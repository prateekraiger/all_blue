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11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0" y="0"/>
            <a:ext cx="73152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0" y="-1371600"/>
            <a:ext cx="4572000" cy="4572000"/>
          </a:xfrm>
          <a:prstGeom prst="roundRect">
            <a:avLst>
              <a:gd name="adj" fmla="val 50000"/>
            </a:avLst>
          </a:prstGeom>
          <a:solidFill>
            <a:srgbClr val="00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26880" y="-731520"/>
            <a:ext cx="3291840" cy="329184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22860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0A500"/>
                </a:solidFill>
                <a:latin typeface="Calibri"/>
              </a:rPr>
              <a:t>SMART INDIA
HACKATHON 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0" y="1143000"/>
            <a:ext cx="5029200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914400"/>
            <a:ext cx="5669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ALL BLUE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5740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70C0"/>
                </a:solidFill>
                <a:latin typeface="Calibri"/>
              </a:rPr>
              <a:t>AI-POWERED GIFT SHOP PLATFORM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06040"/>
            <a:ext cx="1828800" cy="5029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724912"/>
            <a:ext cx="5669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Next-Generation E-Commerce with
AI Recommendations • Voice Search • AR Preview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520440"/>
            <a:ext cx="5760720" cy="2331720"/>
          </a:xfrm>
          <a:prstGeom prst="roundRect">
            <a:avLst>
              <a:gd name="adj" fmla="val 3000"/>
            </a:avLst>
          </a:prstGeom>
          <a:solidFill>
            <a:srgbClr val="1A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6301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0A500"/>
                </a:solidFill>
                <a:latin typeface="Calibri"/>
              </a:rPr>
              <a:t>Problem Statement ID: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63016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PS-2025-ECOM-AI-047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977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0A500"/>
                </a:solidFill>
                <a:latin typeface="Calibri"/>
              </a:rPr>
              <a:t>Problem Statement: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977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AI-Powered Smart E-Commerce for Premium Gifting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3251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0A500"/>
                </a:solidFill>
                <a:latin typeface="Calibri"/>
              </a:rPr>
              <a:t>Theme: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43251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Smart Automation  |  AI &amp; ML Solutions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67258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0A500"/>
                </a:solidFill>
                <a:latin typeface="Calibri"/>
              </a:rPr>
              <a:t>Category: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467258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Software — Full Stack Web Application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02005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0A500"/>
                </a:solidFill>
                <a:latin typeface="Calibri"/>
              </a:rPr>
              <a:t>Team ID: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502005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SIH2025-ALLBLUE-001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3675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0A500"/>
                </a:solidFill>
                <a:latin typeface="Calibri"/>
              </a:rPr>
              <a:t>Team Name: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536752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Team ALL BLUE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1371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DD7EE"/>
                </a:solidFill>
                <a:latin typeface="Calibri"/>
              </a:rPr>
              <a:t>TECH STACK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0" y="1828800"/>
            <a:ext cx="1508760" cy="347472"/>
          </a:xfrm>
          <a:prstGeom prst="roundRect">
            <a:avLst>
              <a:gd name="adj" fmla="val 40000"/>
            </a:avLst>
          </a:prstGeom>
          <a:solidFill>
            <a:srgbClr val="00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1828800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Next.js 16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22208" y="1828800"/>
            <a:ext cx="1508760" cy="347472"/>
          </a:xfrm>
          <a:prstGeom prst="roundRect">
            <a:avLst>
              <a:gd name="adj" fmla="val 40000"/>
            </a:avLst>
          </a:prstGeom>
          <a:solidFill>
            <a:srgbClr val="00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22208" y="1828800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Express.js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86416" y="1828800"/>
            <a:ext cx="1508760" cy="347472"/>
          </a:xfrm>
          <a:prstGeom prst="roundRect">
            <a:avLst>
              <a:gd name="adj" fmla="val 40000"/>
            </a:avLst>
          </a:prstGeom>
          <a:solidFill>
            <a:srgbClr val="00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86416" y="1828800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TypeScript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0" y="2304288"/>
            <a:ext cx="1508760" cy="347472"/>
          </a:xfrm>
          <a:prstGeom prst="roundRect">
            <a:avLst>
              <a:gd name="adj" fmla="val 40000"/>
            </a:avLst>
          </a:prstGeom>
          <a:solidFill>
            <a:srgbClr val="00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0" y="2304288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Supabase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22208" y="2304288"/>
            <a:ext cx="1508760" cy="347472"/>
          </a:xfrm>
          <a:prstGeom prst="roundRect">
            <a:avLst>
              <a:gd name="adj" fmla="val 40000"/>
            </a:avLst>
          </a:prstGeom>
          <a:solidFill>
            <a:srgbClr val="00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22208" y="2304288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Stripe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186416" y="2304288"/>
            <a:ext cx="1508760" cy="347472"/>
          </a:xfrm>
          <a:prstGeom prst="roundRect">
            <a:avLst>
              <a:gd name="adj" fmla="val 40000"/>
            </a:avLst>
          </a:prstGeom>
          <a:solidFill>
            <a:srgbClr val="00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86416" y="2304288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Stack Auth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0" y="2779776"/>
            <a:ext cx="1508760" cy="347472"/>
          </a:xfrm>
          <a:prstGeom prst="roundRect">
            <a:avLst>
              <a:gd name="adj" fmla="val 40000"/>
            </a:avLst>
          </a:prstGeom>
          <a:solidFill>
            <a:srgbClr val="00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0" y="2779776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Tailwind CSS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22208" y="2779776"/>
            <a:ext cx="1508760" cy="347472"/>
          </a:xfrm>
          <a:prstGeom prst="roundRect">
            <a:avLst>
              <a:gd name="adj" fmla="val 40000"/>
            </a:avLst>
          </a:prstGeom>
          <a:solidFill>
            <a:srgbClr val="00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22208" y="2779776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Framer Motion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86416" y="2779776"/>
            <a:ext cx="1508760" cy="347472"/>
          </a:xfrm>
          <a:prstGeom prst="roundRect">
            <a:avLst>
              <a:gd name="adj" fmla="val 40000"/>
            </a:avLst>
          </a:prstGeom>
          <a:solidFill>
            <a:srgbClr val="00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86416" y="2779776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Zod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58000" y="3255264"/>
            <a:ext cx="1508760" cy="347472"/>
          </a:xfrm>
          <a:prstGeom prst="roundRect">
            <a:avLst>
              <a:gd name="adj" fmla="val 40000"/>
            </a:avLst>
          </a:prstGeom>
          <a:solidFill>
            <a:srgbClr val="00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0" y="3255264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Radix UI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22208" y="3255264"/>
            <a:ext cx="1508760" cy="347472"/>
          </a:xfrm>
          <a:prstGeom prst="roundRect">
            <a:avLst>
              <a:gd name="adj" fmla="val 40000"/>
            </a:avLst>
          </a:prstGeom>
          <a:solidFill>
            <a:srgbClr val="00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22208" y="3255264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186416" y="3255264"/>
            <a:ext cx="1508760" cy="347472"/>
          </a:xfrm>
          <a:prstGeom prst="roundRect">
            <a:avLst>
              <a:gd name="adj" fmla="val 40000"/>
            </a:avLst>
          </a:prstGeom>
          <a:solidFill>
            <a:srgbClr val="00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186416" y="3255264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Node.js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1908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AACC"/>
                </a:solidFill>
                <a:latin typeface="Calibri"/>
              </a:rPr>
              <a:t>Built by Prateek  ·  Hackathon 2025  ·  prateekraiger/all_blue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22960"/>
            <a:ext cx="1097280" cy="5029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08760" y="822960"/>
            <a:ext cx="9144000" cy="50292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34455"/>
                </a:solidFill>
                <a:latin typeface="Calibri"/>
              </a:rPr>
              <a:t>What challenge are we solving?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0" y="637336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63733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ALL BLUE — AI Gift Shop  |  SIH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3733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Team ALL BLUE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097280"/>
            <a:ext cx="5212080" cy="1828800"/>
          </a:xfrm>
          <a:prstGeom prst="roundRect">
            <a:avLst>
              <a:gd name="adj" fmla="val 3000"/>
            </a:avLst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097280"/>
            <a:ext cx="109728" cy="18288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117043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00"/>
                </a:solidFill>
                <a:latin typeface="Calibri"/>
              </a:rPr>
              <a:t>THE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536192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A4A"/>
                </a:solidFill>
                <a:latin typeface="Calibri"/>
              </a:rPr>
              <a:t>• Traditional gift shops lack personalisation and intelligence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1A2A4A"/>
                </a:solidFill>
                <a:latin typeface="Calibri"/>
              </a:rPr>
              <a:t>• Customers struggle to find the right gift for the right person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1A2A4A"/>
                </a:solidFill>
                <a:latin typeface="Calibri"/>
              </a:rPr>
              <a:t>• No AI-driven discovery — purely manual browsing experiences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1A2A4A"/>
                </a:solidFill>
                <a:latin typeface="Calibri"/>
              </a:rPr>
              <a:t>• Zero voice interaction or AR preview capabilities in the market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1097280"/>
            <a:ext cx="5852160" cy="1828800"/>
          </a:xfrm>
          <a:prstGeom prst="roundRect">
            <a:avLst>
              <a:gd name="adj" fmla="val 3000"/>
            </a:avLst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0" y="1097280"/>
            <a:ext cx="109728" cy="18288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4768" y="117043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0C0"/>
                </a:solidFill>
                <a:latin typeface="Calibri"/>
              </a:rPr>
              <a:t>OUR 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4768" y="1536192"/>
            <a:ext cx="5394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A4A"/>
                </a:solidFill>
                <a:latin typeface="Calibri"/>
              </a:rPr>
              <a:t>• ALL BLUE — AI-first e-commerce platform for premium gifting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1A2A4A"/>
                </a:solidFill>
                <a:latin typeface="Calibri"/>
              </a:rPr>
              <a:t>• Personalised AI recommendations based on user purchase history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1A2A4A"/>
                </a:solidFill>
                <a:latin typeface="Calibri"/>
              </a:rPr>
              <a:t>• Multi-step AI Gift Finder wizard with match-score rankings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1A2A4A"/>
                </a:solidFill>
                <a:latin typeface="Calibri"/>
              </a:rPr>
              <a:t>• Voice search (en-IN), AR product preview, real-time chatbot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108960"/>
            <a:ext cx="2194560" cy="109728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2461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70C0"/>
                </a:solidFill>
                <a:latin typeface="Calibri"/>
              </a:rPr>
              <a:t>6+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76732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4455"/>
                </a:solidFill>
                <a:latin typeface="Calibri"/>
              </a:rPr>
              <a:t>AI Features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0" y="3108960"/>
            <a:ext cx="2194560" cy="109728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0" y="32461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70C0"/>
                </a:solidFill>
                <a:latin typeface="Calibri"/>
              </a:rPr>
              <a:t>30+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76732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4455"/>
                </a:solidFill>
                <a:latin typeface="Calibri"/>
              </a:rPr>
              <a:t>API Endpoints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0" y="3108960"/>
            <a:ext cx="2194560" cy="109728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32461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70C0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376732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4455"/>
                </a:solidFill>
                <a:latin typeface="Calibri"/>
              </a:rPr>
              <a:t>DB Tables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69680" y="3108960"/>
            <a:ext cx="2194560" cy="109728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0" y="32461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70C0"/>
                </a:solidFill>
                <a:latin typeface="Calibri"/>
              </a:rPr>
              <a:t>100%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376732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4455"/>
                </a:solidFill>
                <a:latin typeface="Calibri"/>
              </a:rPr>
              <a:t>TypeScript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315968"/>
            <a:ext cx="11430000" cy="178308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4074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HACKATHON OBJECTIVE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754880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455"/>
                </a:solidFill>
                <a:latin typeface="Calibri"/>
              </a:rPr>
              <a:t>Build a Next.js + AI-powered shopping platform for a premium gift shop — delivering personalised, intelligent, and immersive shopping experiences. The platform must integrate AI-based product recommendation, smart search (voice + text), secure payment processing (Stripe / INR), user authentication, admin management, and real-time order tracking — all production-ready.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  <a:latin typeface="Calibri"/>
              </a:rPr>
              <a:t>PROPOSED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22960"/>
            <a:ext cx="1097280" cy="5029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08760" y="822960"/>
            <a:ext cx="9144000" cy="50292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34455"/>
                </a:solidFill>
                <a:latin typeface="Calibri"/>
              </a:rPr>
              <a:t>ALL BLUE — Where AI meets the art of gifting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0" y="637336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63733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ALL BLUE — AI Gift Shop  |  SIH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3733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Team ALL BLUE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097280"/>
            <a:ext cx="11430000" cy="822960"/>
          </a:xfrm>
          <a:prstGeom prst="roundRect">
            <a:avLst>
              <a:gd name="adj" fmla="val 3000"/>
            </a:avLst>
          </a:prstGeom>
          <a:solidFill>
            <a:srgbClr val="004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143000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ALL BLUE is a production-grade, AI-powered e-commerce platform for premium gift shopping — combining a Next.js 16 storefront with an Express.js REST API, Supabase (PostgreSQL), Stripe payments, and a full suite of AI-driven features.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2103120"/>
            <a:ext cx="3749039" cy="178308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2128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70C0"/>
                </a:solidFill>
                <a:latin typeface="Segoe UI Emoji"/>
              </a:rPr>
              <a:t>🛍️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578608"/>
            <a:ext cx="3520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Core E-Commerce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880360"/>
            <a:ext cx="3520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4455"/>
                </a:solidFill>
                <a:latin typeface="Calibri"/>
              </a:rPr>
              <a:t>Product catalog · cart · checkout
Stripe (INR) · order tracking
Admin dashboard · reviews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79" y="2103120"/>
            <a:ext cx="3749039" cy="178308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39" y="22128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70C0"/>
                </a:solidFill>
                <a:latin typeface="Segoe UI Emoji"/>
              </a:rPr>
              <a:t>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39" y="2578608"/>
            <a:ext cx="3520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AI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39" y="2880360"/>
            <a:ext cx="3520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4455"/>
                </a:solidFill>
                <a:latin typeface="Calibri"/>
              </a:rPr>
              <a:t>Personalised recommendations
Gift Finder wizard (match %)
Rule-based chatbot · tag affinity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18" y="2103120"/>
            <a:ext cx="3749039" cy="178308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8" y="22128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70C0"/>
                </a:solidFill>
                <a:latin typeface="Segoe UI Emoji"/>
              </a:rPr>
              <a:t>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8" y="2578608"/>
            <a:ext cx="3520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Smart 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8" y="2880360"/>
            <a:ext cx="3520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4455"/>
                </a:solidFill>
                <a:latin typeface="Calibri"/>
              </a:rPr>
              <a:t>Real-time debounced search
Voice input (Web Speech en-IN)
Relevance scoring · tag overlap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" y="4023360"/>
            <a:ext cx="3749039" cy="178308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1330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70C0"/>
                </a:solidFill>
                <a:latin typeface="Segoe UI Emoji"/>
              </a:rPr>
              <a:t>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498848"/>
            <a:ext cx="3520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AR / 360° Preview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800600"/>
            <a:ext cx="3520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4455"/>
                </a:solidFill>
                <a:latin typeface="Calibri"/>
              </a:rPr>
              <a:t>AR-capable category detection
Full-screen image gallery viewer
Zoom · thumbnails · instructions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79" y="4023360"/>
            <a:ext cx="3749039" cy="178308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4839" y="41330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70C0"/>
                </a:solidFill>
                <a:latin typeface="Segoe UI Emoji"/>
              </a:rPr>
              <a:t>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39" y="4498848"/>
            <a:ext cx="3520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Security &amp; Reliability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39" y="4800600"/>
            <a:ext cx="3520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4455"/>
                </a:solidFill>
                <a:latin typeface="Calibri"/>
              </a:rPr>
              <a:t>Helmet · CORS · rate limiter
Zod validation · JWT (JWKS)
Stripe webhook verification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75318" y="4023360"/>
            <a:ext cx="3749039" cy="178308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78" y="41330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70C0"/>
                </a:solidFill>
                <a:latin typeface="Segoe UI Emoji"/>
              </a:rPr>
              <a:t>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78" y="4498848"/>
            <a:ext cx="3520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UX &amp; Performance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78" y="4800600"/>
            <a:ext cx="3520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4455"/>
                </a:solidFill>
                <a:latin typeface="Calibri"/>
              </a:rPr>
              <a:t>Responsive mobile-first design
Framer Motion animations
SEO · dark mode · skeletons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  <a:latin typeface="Calibri"/>
              </a:rPr>
              <a:t>TECHNICAL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22960"/>
            <a:ext cx="1097280" cy="5029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08760" y="822960"/>
            <a:ext cx="9144000" cy="50292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34455"/>
                </a:solidFill>
                <a:latin typeface="Calibri"/>
              </a:rPr>
              <a:t>Architecture, technologies, and implementation methodology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0" y="637336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63733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ALL BLUE — AI Gift Shop  |  SIH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3733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Team ALL BLUE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097280"/>
            <a:ext cx="11430000" cy="228600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SYSTEM ARCHITECTURE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600200"/>
            <a:ext cx="1691640" cy="1005840"/>
          </a:xfrm>
          <a:prstGeom prst="roundRect">
            <a:avLst>
              <a:gd name="adj" fmla="val 5000"/>
            </a:avLst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600200"/>
            <a:ext cx="1691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CLIENT
(Browser)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19202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70C0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31719" y="1600200"/>
            <a:ext cx="1691640" cy="1005840"/>
          </a:xfrm>
          <a:prstGeom prst="roundRect">
            <a:avLst>
              <a:gd name="adj" fmla="val 5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31719" y="1600200"/>
            <a:ext cx="1691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Next.js 16
Frontend
App Router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59" y="19202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70C0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38" y="1600200"/>
            <a:ext cx="1691640" cy="1005840"/>
          </a:xfrm>
          <a:prstGeom prst="roundRect">
            <a:avLst>
              <a:gd name="adj" fmla="val 5000"/>
            </a:avLst>
          </a:prstGeom>
          <a:solidFill>
            <a:srgbClr val="004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38" y="1600200"/>
            <a:ext cx="1691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Express.js
Backend API
(TypeScript)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78" y="19202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70C0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0757" y="1600200"/>
            <a:ext cx="1691640" cy="1005840"/>
          </a:xfrm>
          <a:prstGeom prst="roundRect">
            <a:avLst>
              <a:gd name="adj" fmla="val 5000"/>
            </a:avLst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57" y="1600200"/>
            <a:ext cx="1691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Supabase
PostgreSQL
+ RLS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397" y="19202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70C0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76" y="1600200"/>
            <a:ext cx="1691640" cy="1005840"/>
          </a:xfrm>
          <a:prstGeom prst="roundRect">
            <a:avLst>
              <a:gd name="adj" fmla="val 5000"/>
            </a:avLst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76" y="1600200"/>
            <a:ext cx="1691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Stripe
Payments
(INR)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16" y="19202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70C0"/>
                </a:solidFill>
                <a:latin typeface="Calibr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29795" y="1600200"/>
            <a:ext cx="1691640" cy="1005840"/>
          </a:xfrm>
          <a:prstGeom prst="roundRect">
            <a:avLst>
              <a:gd name="adj" fmla="val 5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29795" y="1600200"/>
            <a:ext cx="1691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Stack Auth
JWT / JWKS
Verification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3520440"/>
            <a:ext cx="1645920" cy="502920"/>
          </a:xfrm>
          <a:prstGeom prst="roundRect">
            <a:avLst>
              <a:gd name="adj" fmla="val 2000"/>
            </a:avLst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352044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Layer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48840" y="3520440"/>
            <a:ext cx="2103120" cy="502920"/>
          </a:xfrm>
          <a:prstGeom prst="roundRect">
            <a:avLst>
              <a:gd name="adj" fmla="val 2000"/>
            </a:avLst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48840" y="352044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89120" y="3520440"/>
            <a:ext cx="2103120" cy="502920"/>
          </a:xfrm>
          <a:prstGeom prst="roundRect">
            <a:avLst>
              <a:gd name="adj" fmla="val 2000"/>
            </a:avLst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0" y="352044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29400" y="3520440"/>
            <a:ext cx="2057400" cy="502920"/>
          </a:xfrm>
          <a:prstGeom prst="roundRect">
            <a:avLst>
              <a:gd name="adj" fmla="val 2000"/>
            </a:avLst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29400" y="35204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Database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23960" y="3520440"/>
            <a:ext cx="1508760" cy="502920"/>
          </a:xfrm>
          <a:prstGeom prst="roundRect">
            <a:avLst>
              <a:gd name="adj" fmla="val 2000"/>
            </a:avLst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23960" y="352044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Auth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469880" y="3520440"/>
            <a:ext cx="1508760" cy="502920"/>
          </a:xfrm>
          <a:prstGeom prst="roundRect">
            <a:avLst>
              <a:gd name="adj" fmla="val 2000"/>
            </a:avLst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69880" y="352044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Payments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5760" y="4114800"/>
            <a:ext cx="1645920" cy="1280160"/>
          </a:xfrm>
          <a:prstGeom prst="roundRect">
            <a:avLst>
              <a:gd name="adj" fmla="val 2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114800"/>
            <a:ext cx="1645920" cy="36576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4169664"/>
            <a:ext cx="1508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A4A"/>
                </a:solidFill>
                <a:latin typeface="Calibri"/>
              </a:rPr>
              <a:t>Technology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148840" y="4114800"/>
            <a:ext cx="2103120" cy="1280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148840" y="4114800"/>
            <a:ext cx="2103120" cy="36576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221992" y="4169664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A4A"/>
                </a:solidFill>
                <a:latin typeface="Calibri"/>
              </a:rPr>
              <a:t>Next.js 16 · Tailwind 4
Radix UI · Framer Motion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89120" y="4114800"/>
            <a:ext cx="2103120" cy="1280160"/>
          </a:xfrm>
          <a:prstGeom prst="roundRect">
            <a:avLst>
              <a:gd name="adj" fmla="val 2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89120" y="4114800"/>
            <a:ext cx="2103120" cy="36576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62272" y="4169664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A4A"/>
                </a:solidFill>
                <a:latin typeface="Calibri"/>
              </a:rPr>
              <a:t>Express.js 4 · TypeScript 5
Helmet · Morgan · Zod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629400" y="4114800"/>
            <a:ext cx="2057400" cy="1280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629400" y="4114800"/>
            <a:ext cx="2057400" cy="36576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02552" y="4169664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A4A"/>
                </a:solidFill>
                <a:latin typeface="Calibri"/>
              </a:rPr>
              <a:t>Supabase (PostgreSQL)
RLS · JSONB · GIN Index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823960" y="4114800"/>
            <a:ext cx="1508760" cy="1280160"/>
          </a:xfrm>
          <a:prstGeom prst="roundRect">
            <a:avLst>
              <a:gd name="adj" fmla="val 2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823960" y="4114800"/>
            <a:ext cx="1508760" cy="36576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897112" y="4169664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A4A"/>
                </a:solidFill>
                <a:latin typeface="Calibri"/>
              </a:rPr>
              <a:t>Stack Auth · Jose
JWT · JWKS Verification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469880" y="4114800"/>
            <a:ext cx="1508760" cy="1280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469880" y="4114800"/>
            <a:ext cx="1508760" cy="36576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543032" y="4169664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A4A"/>
                </a:solidFill>
                <a:latin typeface="Calibri"/>
              </a:rPr>
              <a:t>Stripe Checkout
Webhook · INR · Sessions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65760" y="5623560"/>
            <a:ext cx="11430000" cy="548640"/>
          </a:xfrm>
          <a:prstGeom prst="roundRect">
            <a:avLst>
              <a:gd name="adj" fmla="val 3000"/>
            </a:avLst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" y="568756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B3E"/>
                </a:solidFill>
                <a:latin typeface="Calibri"/>
              </a:rPr>
              <a:t>⚙  Methodology:  Agile · REST API · TypeScript strict mode · Zod validation on every endpoint · JWT auth middleware · Stripe webhook verification · GIN indexed tag queries · RLS row-level security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  <a:latin typeface="Calibri"/>
              </a:rPr>
              <a:t>AI SYSTEM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22960"/>
            <a:ext cx="1097280" cy="5029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08760" y="822960"/>
            <a:ext cx="9144000" cy="50292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34455"/>
                </a:solidFill>
                <a:latin typeface="Calibri"/>
              </a:rPr>
              <a:t>Recommendation Engine · Chatbot · Gift Finder · Voice Search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0" y="637336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63733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ALL BLUE — AI Gift Shop  |  SIH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3733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Team ALL BLUE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097280"/>
            <a:ext cx="3749039" cy="502920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097280"/>
            <a:ext cx="3749039" cy="4114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12471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🤖  RECOMMENDATION ENGINE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627632"/>
            <a:ext cx="3429000" cy="685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167335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0C0"/>
                </a:solidFill>
                <a:latin typeface="Calibri"/>
              </a:rPr>
              <a:t>1.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166420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  <a:latin typeface="Calibri"/>
              </a:rPr>
              <a:t>Fetch user_preferences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19385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455"/>
                </a:solidFill>
                <a:latin typeface="Calibri"/>
              </a:rPr>
              <a:t>purchased_tags + viewed_categories from Supabase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432304"/>
            <a:ext cx="3429000" cy="685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47802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0C0"/>
                </a:solidFill>
                <a:latin typeface="Calibri"/>
              </a:rPr>
              <a:t>2.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24688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  <a:latin typeface="Calibri"/>
              </a:rPr>
              <a:t>Tag overlap query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27432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455"/>
                </a:solidFill>
                <a:latin typeface="Calibri"/>
              </a:rPr>
              <a:t>Products with overlapping tags (GIN indexed)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236976"/>
            <a:ext cx="3429000" cy="685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28269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0C0"/>
                </a:solidFill>
                <a:latin typeface="Calibri"/>
              </a:rPr>
              <a:t>3.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327355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  <a:latin typeface="Calibri"/>
              </a:rPr>
              <a:t>Category fallback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354787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455"/>
                </a:solidFill>
                <a:latin typeface="Calibri"/>
              </a:rPr>
              <a:t>Same-category products if tag matches &lt; limit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041648"/>
            <a:ext cx="3429000" cy="685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08736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0C0"/>
                </a:solidFill>
                <a:latin typeface="Calibri"/>
              </a:rPr>
              <a:t>4.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407822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  <a:latin typeface="Calibri"/>
              </a:rPr>
              <a:t>Newest fill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435254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455"/>
                </a:solidFill>
                <a:latin typeface="Calibri"/>
              </a:rPr>
              <a:t>Latest active products to complete the feed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846320"/>
            <a:ext cx="3429000" cy="685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8920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0C0"/>
                </a:solidFill>
                <a:latin typeface="Calibri"/>
              </a:rPr>
              <a:t>5.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488289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  <a:latin typeface="Calibri"/>
              </a:rPr>
              <a:t>Preference learning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515721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455"/>
                </a:solidFill>
                <a:latin typeface="Calibri"/>
              </a:rPr>
              <a:t>Silent upsert on product view, search &amp; purchase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51960" y="1097280"/>
            <a:ext cx="3749039" cy="502920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51960" y="1097280"/>
            <a:ext cx="3749039" cy="411480"/>
          </a:xfrm>
          <a:prstGeom prst="rect">
            <a:avLst/>
          </a:prstGeom>
          <a:solidFill>
            <a:srgbClr val="004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43400" y="112471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💬  CHATBOT INTENT SYSTEM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89120" y="1627632"/>
            <a:ext cx="3429000" cy="5943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26280" y="166420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0C0"/>
                </a:solidFill>
                <a:latin typeface="Calibri"/>
              </a:rPr>
              <a:t>User Message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26280" y="19202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455"/>
                </a:solidFill>
                <a:latin typeface="Calibri"/>
              </a:rPr>
              <a:t>Raw text input via chatbot UI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222199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70C0"/>
                </a:solidFill>
                <a:latin typeface="Calibri"/>
              </a:rPr>
              <a:t>↓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89120" y="2340864"/>
            <a:ext cx="3429000" cy="5943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26280" y="23774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478B"/>
                </a:solidFill>
                <a:latin typeface="Calibri"/>
              </a:rPr>
              <a:t>detectIntent()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26280" y="2633472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455"/>
                </a:solidFill>
                <a:latin typeface="Calibri"/>
              </a:rPr>
              <a:t>greeting / farewell / help / product_search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293522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70C0"/>
                </a:solidFill>
                <a:latin typeface="Calibri"/>
              </a:rPr>
              <a:t>↓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89120" y="3054096"/>
            <a:ext cx="3429000" cy="5943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26280" y="3090672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0C0"/>
                </a:solidFill>
                <a:latin typeface="Calibri"/>
              </a:rPr>
              <a:t>extractPrice()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26280" y="334670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455"/>
                </a:solidFill>
                <a:latin typeface="Calibri"/>
              </a:rPr>
              <a:t>maxPrice / minPrice from natural language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0" y="3648456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70C0"/>
                </a:solidFill>
                <a:latin typeface="Calibri"/>
              </a:rPr>
              <a:t>↓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89120" y="3767328"/>
            <a:ext cx="3429000" cy="5943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26280" y="380390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478B"/>
                </a:solidFill>
                <a:latin typeface="Calibri"/>
              </a:rPr>
              <a:t>extractTags()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26280" y="4059936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455"/>
                </a:solidFill>
                <a:latin typeface="Calibri"/>
              </a:rPr>
              <a:t>KEYWORD_TAG_MAP → matched product tags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600" y="4361688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70C0"/>
                </a:solidFill>
                <a:latin typeface="Calibri"/>
              </a:rPr>
              <a:t>↓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389120" y="4480560"/>
            <a:ext cx="3429000" cy="5943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26280" y="4517136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0C0"/>
                </a:solidFill>
                <a:latin typeface="Calibri"/>
              </a:rPr>
              <a:t>Supabase Query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26280" y="477316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455"/>
                </a:solidFill>
                <a:latin typeface="Calibri"/>
              </a:rPr>
              <a:t>is_active + stock&gt;0 + tag overlap + price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43600" y="5074920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70C0"/>
                </a:solidFill>
                <a:latin typeface="Calibri"/>
              </a:rPr>
              <a:t>↓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389120" y="5193792"/>
            <a:ext cx="3429000" cy="5943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26280" y="523036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478B"/>
                </a:solidFill>
                <a:latin typeface="Calibri"/>
              </a:rPr>
              <a:t>Reply + QuickReplies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26280" y="548640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455"/>
                </a:solidFill>
                <a:latin typeface="Calibri"/>
              </a:rPr>
              <a:t>Formatted response with suggested next actions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138160" y="1097280"/>
            <a:ext cx="3657600" cy="237744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138160" y="1097280"/>
            <a:ext cx="3657600" cy="41148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29600" y="11247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🎁  AI GIFT FINDER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75320" y="1572768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A4A"/>
                </a:solidFill>
                <a:latin typeface="Calibri"/>
              </a:rPr>
              <a:t>• Multi-step wizard: Persona × Occasion × Budget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1A2A4A"/>
                </a:solidFill>
                <a:latin typeface="Calibri"/>
              </a:rPr>
              <a:t>• Tag affinity map: persona+occasion → weighted tags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1A2A4A"/>
                </a:solidFill>
                <a:latin typeface="Calibri"/>
              </a:rPr>
              <a:t>• Products scored 0–99% match with reason text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1A2A4A"/>
                </a:solidFill>
                <a:latin typeface="Calibri"/>
              </a:rPr>
              <a:t>• Fallback: top-rated products if no tag match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138160" y="3611880"/>
            <a:ext cx="3657600" cy="251460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138160" y="3611880"/>
            <a:ext cx="3657600" cy="41148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29600" y="36393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🎤  VOICE SEARCH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75320" y="4096512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A4A"/>
                </a:solidFill>
                <a:latin typeface="Calibri"/>
              </a:rPr>
              <a:t>• Web Speech API (SpeechRecognition / webkit)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1A2A4A"/>
                </a:solidFill>
                <a:latin typeface="Calibri"/>
              </a:rPr>
              <a:t>• Language: en-IN  (Indian English)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1A2A4A"/>
                </a:solidFill>
                <a:latin typeface="Calibri"/>
              </a:rPr>
              <a:t>• Available in: Navbar · Search Page · Chatbot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1A2A4A"/>
                </a:solidFill>
                <a:latin typeface="Calibri"/>
              </a:rPr>
              <a:t>• useVoiceSearch() — reusable React hook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1A2A4A"/>
                </a:solidFill>
                <a:latin typeface="Calibri"/>
              </a:rPr>
              <a:t>• Auto-submit on final transcript result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  <a:latin typeface="Calibri"/>
              </a:rPr>
              <a:t>FEATURES IMPLEMENTED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22960"/>
            <a:ext cx="1097280" cy="5029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08760" y="822960"/>
            <a:ext cx="9144000" cy="50292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34455"/>
                </a:solidFill>
                <a:latin typeface="Calibri"/>
              </a:rPr>
              <a:t>Complete feature matrix — all production-ready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0" y="637336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63733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ALL BLUE — AI Gift Shop  |  SIH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3733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Team ALL BLUE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1097280"/>
            <a:ext cx="3749039" cy="507492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097280"/>
            <a:ext cx="3749039" cy="40233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12471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🛍️ Core E-Commerce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1581912"/>
            <a:ext cx="3520440" cy="685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163677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050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161848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  <a:latin typeface="Calibri"/>
              </a:rPr>
              <a:t>Product Catalog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190195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455"/>
                </a:solidFill>
                <a:latin typeface="Calibri"/>
              </a:rPr>
              <a:t>Filterable, sortable grid with pagination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40864"/>
            <a:ext cx="3520440" cy="685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39572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050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3774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  <a:latin typeface="Calibri"/>
              </a:rPr>
              <a:t>Shopping Cart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66090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455"/>
                </a:solidFill>
                <a:latin typeface="Calibri"/>
              </a:rPr>
              <a:t>Persistent (DB) for auth users, localStorage guests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" y="3099816"/>
            <a:ext cx="3520440" cy="685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154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050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13639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  <a:latin typeface="Calibri"/>
              </a:rPr>
              <a:t>Stripe Checkout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41985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455"/>
                </a:solidFill>
                <a:latin typeface="Calibri"/>
              </a:rPr>
              <a:t>INR checkout sessions + webhook verification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3858768"/>
            <a:ext cx="3520440" cy="685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91363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050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89534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  <a:latin typeface="Calibri"/>
              </a:rPr>
              <a:t>Order Tracking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17880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455"/>
                </a:solidFill>
                <a:latin typeface="Calibri"/>
              </a:rPr>
              <a:t>pending→paid→shipped→delivered lifecycle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8" y="4617720"/>
            <a:ext cx="3520440" cy="685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67258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050"/>
                </a:solidFill>
                <a:latin typeface="Calibr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65429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  <a:latin typeface="Calibri"/>
              </a:rPr>
              <a:t>Admin 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937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455"/>
                </a:solidFill>
                <a:latin typeface="Calibri"/>
              </a:rPr>
              <a:t>Revenue stats, low stock alerts, order management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" y="5376672"/>
            <a:ext cx="3520440" cy="685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543153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050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4132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  <a:latin typeface="Calibri"/>
              </a:rPr>
              <a:t>User Auth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6967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455"/>
                </a:solidFill>
                <a:latin typeface="Calibri"/>
              </a:rPr>
              <a:t>Stack Auth — sign-up, sign-in, profile, RBAC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7679" y="1097280"/>
            <a:ext cx="3749039" cy="507492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97679" y="1097280"/>
            <a:ext cx="3749039" cy="402336"/>
          </a:xfrm>
          <a:prstGeom prst="rect">
            <a:avLst/>
          </a:prstGeom>
          <a:solidFill>
            <a:srgbClr val="004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19" y="112471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🤖 AI Features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07407" y="1581912"/>
            <a:ext cx="3520440" cy="685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0559" y="163677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050"/>
                </a:solidFill>
                <a:latin typeface="Calibri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79" y="161848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  <a:latin typeface="Calibri"/>
              </a:rPr>
              <a:t>Recommendation Engine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79" y="190195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455"/>
                </a:solidFill>
                <a:latin typeface="Calibri"/>
              </a:rPr>
              <a:t>Tag+category affinity, personalised by history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07407" y="2340864"/>
            <a:ext cx="3520440" cy="685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80559" y="239572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050"/>
                </a:solidFill>
                <a:latin typeface="Calibri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79" y="23774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  <a:latin typeface="Calibri"/>
              </a:rPr>
              <a:t>AI Shopping Chatbot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54879" y="266090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455"/>
                </a:solidFill>
                <a:latin typeface="Calibri"/>
              </a:rPr>
              <a:t>Intent detection, keyword→tag, price extraction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407407" y="3099816"/>
            <a:ext cx="3520440" cy="685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80559" y="3154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050"/>
                </a:solidFill>
                <a:latin typeface="Calibri"/>
              </a:rP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54879" y="313639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  <a:latin typeface="Calibri"/>
              </a:rPr>
              <a:t>AI Gift Finder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54879" y="341985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455"/>
                </a:solidFill>
                <a:latin typeface="Calibri"/>
              </a:rPr>
              <a:t>Persona×Occasion×Budget → ranked suggestions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407407" y="3858768"/>
            <a:ext cx="3520440" cy="685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80559" y="391363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050"/>
                </a:solidFill>
                <a:latin typeface="Calibri"/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54879" y="389534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  <a:latin typeface="Calibri"/>
              </a:rPr>
              <a:t>Similar Products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54879" y="417880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455"/>
                </a:solidFill>
                <a:latin typeface="Calibri"/>
              </a:rPr>
              <a:t>Tag-overlap + category-fallback similarity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407407" y="4617720"/>
            <a:ext cx="3520440" cy="685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80559" y="467258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050"/>
                </a:solidFill>
                <a:latin typeface="Calibri"/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54879" y="465429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  <a:latin typeface="Calibri"/>
              </a:rPr>
              <a:t>Preference Learning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54879" y="4937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455"/>
                </a:solidFill>
                <a:latin typeface="Calibri"/>
              </a:rPr>
              <a:t>Silent upsert on view, search &amp; purchase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407407" y="5376672"/>
            <a:ext cx="3520440" cy="685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480559" y="543153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050"/>
                </a:solidFill>
                <a:latin typeface="Calibri"/>
              </a:rPr>
              <a:t>✓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54879" y="54132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  <a:latin typeface="Calibri"/>
              </a:rPr>
              <a:t>Personalised Feed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54879" y="56967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455"/>
                </a:solidFill>
                <a:latin typeface="Calibri"/>
              </a:rPr>
              <a:t>Auto-updates on login based on activity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275318" y="1097280"/>
            <a:ext cx="3749039" cy="507492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275318" y="1097280"/>
            <a:ext cx="3749039" cy="402336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366758" y="112471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🔍 Voice + AR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385046" y="1581912"/>
            <a:ext cx="3520440" cy="685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58198" y="163677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050"/>
                </a:solidFill>
                <a:latin typeface="Calibri"/>
              </a:rPr>
              <a:t>✓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732518" y="161848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  <a:latin typeface="Calibri"/>
              </a:rPr>
              <a:t>Voice Search — Navbar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732518" y="190195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455"/>
                </a:solidFill>
                <a:latin typeface="Calibri"/>
              </a:rPr>
              <a:t>Web Speech API en-IN, real-time transcript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385046" y="2340864"/>
            <a:ext cx="3520440" cy="685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458198" y="239572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050"/>
                </a:solidFill>
                <a:latin typeface="Calibri"/>
              </a:rPr>
              <a:t>✓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732518" y="23774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  <a:latin typeface="Calibri"/>
              </a:rPr>
              <a:t>Voice Search — Search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732518" y="266090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455"/>
                </a:solidFill>
                <a:latin typeface="Calibri"/>
              </a:rPr>
              <a:t>Mic button, auto-submit on result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385046" y="3099816"/>
            <a:ext cx="3520440" cy="685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458198" y="3154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050"/>
                </a:solidFill>
                <a:latin typeface="Calibri"/>
              </a:rPr>
              <a:t>✓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732518" y="313639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  <a:latin typeface="Calibri"/>
              </a:rPr>
              <a:t>Voice — Chatbot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732518" y="341985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455"/>
                </a:solidFill>
                <a:latin typeface="Calibri"/>
              </a:rPr>
              <a:t>Mic input inside AI chatbot interface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385046" y="3858768"/>
            <a:ext cx="3520440" cy="685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458198" y="391363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050"/>
                </a:solidFill>
                <a:latin typeface="Calibri"/>
              </a:rPr>
              <a:t>✓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732518" y="389534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  <a:latin typeface="Calibri"/>
              </a:rPr>
              <a:t>AR Preview Modal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732518" y="417880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455"/>
                </a:solidFill>
                <a:latin typeface="Calibri"/>
              </a:rPr>
              <a:t>Full-screen gallery, zoom, thumbnail strip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385046" y="4617720"/>
            <a:ext cx="3520440" cy="685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458198" y="467258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050"/>
                </a:solidFill>
                <a:latin typeface="Calibri"/>
              </a:rPr>
              <a:t>✓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732518" y="465429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  <a:latin typeface="Calibri"/>
              </a:rPr>
              <a:t>AR Category Detection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732518" y="4937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455"/>
                </a:solidFill>
                <a:latin typeface="Calibri"/>
              </a:rPr>
              <a:t>Decor, Lighting, Bedroom auto-detected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385046" y="5376672"/>
            <a:ext cx="3520440" cy="685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458198" y="543153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050"/>
                </a:solidFill>
                <a:latin typeface="Calibri"/>
              </a:rPr>
              <a:t>✓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732518" y="54132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  <a:latin typeface="Calibri"/>
              </a:rPr>
              <a:t>useVoiceSearch Hook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732518" y="56967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455"/>
                </a:solidFill>
                <a:latin typeface="Calibri"/>
              </a:rPr>
              <a:t>Reusable hook, error handling, browser check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  <a:latin typeface="Calibri"/>
              </a:rPr>
              <a:t>API ARCHITECTURE &amp; DATABASE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22960"/>
            <a:ext cx="1097280" cy="5029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08760" y="822960"/>
            <a:ext cx="9144000" cy="50292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34455"/>
                </a:solidFill>
                <a:latin typeface="Calibri"/>
              </a:rPr>
              <a:t>RESTful API design + PostgreSQL schema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0" y="637336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63733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ALL BLUE — AI Gift Shop  |  SIH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3733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Team ALL BLUE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1097280"/>
            <a:ext cx="5943600" cy="507492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097280"/>
            <a:ext cx="5943600" cy="402336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12471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📡  REST API ENDPOINTS  (30+ routes)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1581912"/>
            <a:ext cx="57607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1627632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0C0"/>
                </a:solidFill>
                <a:latin typeface="Calibri"/>
              </a:rPr>
              <a:t>Products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1627632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A4A"/>
                </a:solidFill>
                <a:latin typeface="Calibri"/>
              </a:rPr>
              <a:t>/api/products, /trending, /categories, /:id  — GET/POST/PUT/DELETE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029968"/>
            <a:ext cx="5760720" cy="420624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075688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0C0"/>
                </a:solidFill>
                <a:latin typeface="Calibri"/>
              </a:rPr>
              <a:t>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207568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A4A"/>
                </a:solidFill>
                <a:latin typeface="Calibri"/>
              </a:rPr>
              <a:t>/api/search?q=  — full-text + relevance scoring + tag overlap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478024"/>
            <a:ext cx="57607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523744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0C0"/>
                </a:solidFill>
                <a:latin typeface="Calibri"/>
              </a:rPr>
              <a:t>Cart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2523744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A4A"/>
                </a:solidFill>
                <a:latin typeface="Calibri"/>
              </a:rPr>
              <a:t>/api/cart  — GET/POST/PUT/DELETE  (auth required)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2926080"/>
            <a:ext cx="5760720" cy="420624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971800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0C0"/>
                </a:solidFill>
                <a:latin typeface="Calibri"/>
              </a:rPr>
              <a:t>Orders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297180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A4A"/>
                </a:solidFill>
                <a:latin typeface="Calibri"/>
              </a:rPr>
              <a:t>/api/orders  — place, list, detail, cancel, admin-status  (auth)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3374136"/>
            <a:ext cx="57607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419856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0C0"/>
                </a:solidFill>
                <a:latin typeface="Calibri"/>
              </a:rPr>
              <a:t>Payments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3419856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A4A"/>
                </a:solidFill>
                <a:latin typeface="Calibri"/>
              </a:rPr>
              <a:t>/api/payment/create-checkout, /verify, /webhook, /config  (Stripe)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3822192"/>
            <a:ext cx="5760720" cy="420624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867912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0C0"/>
                </a:solidFill>
                <a:latin typeface="Calibri"/>
              </a:rPr>
              <a:t>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3867912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A4A"/>
                </a:solidFill>
                <a:latin typeface="Calibri"/>
              </a:rPr>
              <a:t>/api/ai/recommendations, /similar/:id, /preferences, /chat  (AI)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4270248"/>
            <a:ext cx="57607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315968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0C0"/>
                </a:solidFill>
                <a:latin typeface="Calibri"/>
              </a:rPr>
              <a:t>Gift Finder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431596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A4A"/>
                </a:solidFill>
                <a:latin typeface="Calibri"/>
              </a:rPr>
              <a:t>/api/gift-finder  — persona × occasion × budget → ranked products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4718304"/>
            <a:ext cx="5760720" cy="420624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4764024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0C0"/>
                </a:solidFill>
                <a:latin typeface="Calibri"/>
              </a:rPr>
              <a:t>AR Preview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0200" y="4764024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A4A"/>
                </a:solidFill>
                <a:latin typeface="Calibri"/>
              </a:rPr>
              <a:t>/api/ar/preview/:id, /supported-categories  — AR metadata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5166360"/>
            <a:ext cx="57607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5212080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0C0"/>
                </a:solidFill>
                <a:latin typeface="Calibri"/>
              </a:rPr>
              <a:t>Reviews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00200" y="521208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A4A"/>
                </a:solidFill>
                <a:latin typeface="Calibri"/>
              </a:rPr>
              <a:t>/api/reviews/:productId  — GET/POST/DELETE  (auth write)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5614416"/>
            <a:ext cx="5760720" cy="420624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5660136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0C0"/>
                </a:solidFill>
                <a:latin typeface="Calibri"/>
              </a:rPr>
              <a:t>Admin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00200" y="5660136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A4A"/>
                </a:solidFill>
                <a:latin typeface="Calibri"/>
              </a:rPr>
              <a:t>/api/admin/dashboard  — revenue, low-stock, popular  (admin RBAC)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46520" y="1097280"/>
            <a:ext cx="5394960" cy="507492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46520" y="1097280"/>
            <a:ext cx="5394960" cy="402336"/>
          </a:xfrm>
          <a:prstGeom prst="rect">
            <a:avLst/>
          </a:prstGeom>
          <a:solidFill>
            <a:srgbClr val="004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0" y="112471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🗄️  DATABASE SCHEMA  (Supabase / PostgreSQL)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0" y="1581912"/>
            <a:ext cx="5120640" cy="80467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83680" y="1581912"/>
            <a:ext cx="1280160" cy="80467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29400" y="178308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070C0"/>
                </a:solidFill>
                <a:latin typeface="Calibri"/>
              </a:rPr>
              <a:t>products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09560" y="1636776"/>
            <a:ext cx="3657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A4A"/>
                </a:solidFill>
                <a:latin typeface="Calibri"/>
              </a:rPr>
              <a:t>id · name · description · price · category
tags TEXT[] · images TEXT[] · stock · is_active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0" y="2496312"/>
            <a:ext cx="5120640" cy="80467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583680" y="2496312"/>
            <a:ext cx="1280160" cy="80467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29400" y="269748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070C0"/>
                </a:solidFill>
                <a:latin typeface="Calibri"/>
              </a:rPr>
              <a:t>orders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09560" y="2551176"/>
            <a:ext cx="3657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A4A"/>
                </a:solidFill>
                <a:latin typeface="Calibri"/>
              </a:rPr>
              <a:t>id · user_id · items JSONB · total_amount
status · stripe_session_id · address JSONB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583680" y="3410712"/>
            <a:ext cx="5120640" cy="80467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583680" y="3410712"/>
            <a:ext cx="1280160" cy="80467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29400" y="361188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070C0"/>
                </a:solidFill>
                <a:latin typeface="Calibri"/>
              </a:rPr>
              <a:t>cart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09560" y="3465576"/>
            <a:ext cx="3657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A4A"/>
                </a:solidFill>
                <a:latin typeface="Calibri"/>
              </a:rPr>
              <a:t>id · user_id · product_id · quantity
UNIQUE(user_id, product_id) → one row/item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583680" y="4325112"/>
            <a:ext cx="5120640" cy="80467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583680" y="4325112"/>
            <a:ext cx="1280160" cy="80467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629400" y="452628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070C0"/>
                </a:solidFill>
                <a:latin typeface="Calibri"/>
              </a:rPr>
              <a:t>reviews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09560" y="4379976"/>
            <a:ext cx="3657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A4A"/>
                </a:solidFill>
                <a:latin typeface="Calibri"/>
              </a:rPr>
              <a:t>id · user_id · product_id · rating(1-5)
comment · UNIQUE(user_id, product_id)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583680" y="5239512"/>
            <a:ext cx="5120640" cy="80467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583680" y="5239512"/>
            <a:ext cx="1280160" cy="80467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629400" y="544068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070C0"/>
                </a:solidFill>
                <a:latin typeface="Calibri"/>
              </a:rPr>
              <a:t>user_prefs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09560" y="5294376"/>
            <a:ext cx="3657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A4A"/>
                </a:solidFill>
                <a:latin typeface="Calibri"/>
              </a:rPr>
              <a:t>user_id · viewed_categories TEXT[]
purchased_tags TEXT[] · last_search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446520" y="5879592"/>
            <a:ext cx="5394960" cy="274320"/>
          </a:xfrm>
          <a:prstGeom prst="roundRect">
            <a:avLst>
              <a:gd name="adj" fmla="val 2000"/>
            </a:avLst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37960" y="589788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478B"/>
                </a:solidFill>
                <a:latin typeface="Calibri"/>
              </a:rPr>
              <a:t>RLS enabled on all tables  ·  RPC: decrement_stock() · increment_stock() · update_updated_at_column()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  <a:latin typeface="Calibri"/>
              </a:rPr>
              <a:t>FEASIBILITY &amp; VIABILITY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22960"/>
            <a:ext cx="1097280" cy="5029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08760" y="822960"/>
            <a:ext cx="9144000" cy="50292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34455"/>
                </a:solidFill>
                <a:latin typeface="Calibri"/>
              </a:rPr>
              <a:t>Technical feasibility, risk analysis, and mitigation strategies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0" y="637336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63733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ALL BLUE — AI Gift Shop  |  SIH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3733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Team ALL BLUE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097280"/>
            <a:ext cx="5486400" cy="146304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097280"/>
            <a:ext cx="109728" cy="14630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118872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050"/>
                </a:solidFill>
                <a:latin typeface="Segoe UI Emoji"/>
              </a:rP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120700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Technical Feasibility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60020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55"/>
                </a:solidFill>
                <a:latin typeface="Calibri"/>
              </a:rPr>
              <a:t>All technologies are production-proven: Next.js, Express.js, Supabase, and Stripe are battle-tested at scale. TypeScript ensures type-safety throughout.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097280"/>
            <a:ext cx="5486400" cy="146304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097280"/>
            <a:ext cx="109728" cy="14630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118872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050"/>
                </a:solidFill>
                <a:latin typeface="Segoe UI Emoji"/>
              </a:rP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120700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Financial Viability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60020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55"/>
                </a:solidFill>
                <a:latin typeface="Calibri"/>
              </a:rPr>
              <a:t>Supabase free tier supports prototyping. Stripe takes 2% per transaction. Vercel + Railway deployments are zero-cost for MVP scale.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2743200"/>
            <a:ext cx="5486400" cy="146304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2743200"/>
            <a:ext cx="109728" cy="14630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283464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050"/>
                </a:solidFill>
                <a:latin typeface="Segoe UI Emoji"/>
              </a:rPr>
              <a:t>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285292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Scalability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24612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55"/>
                </a:solidFill>
                <a:latin typeface="Calibri"/>
              </a:rPr>
              <a:t>Supabase PostgreSQL scales horizontally. Express.js stateless API can be load-balanced. GIN-indexed tag queries ensure sub-50ms search responses.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2743200"/>
            <a:ext cx="5486400" cy="146304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2743200"/>
            <a:ext cx="109728" cy="14630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7648" y="283464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6B00"/>
                </a:solidFill>
                <a:latin typeface="Segoe UI Emoji"/>
              </a:rPr>
              <a:t>⚠️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285292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  <a:latin typeface="Calibri"/>
              </a:rPr>
              <a:t>Potential Challenges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324612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55"/>
                </a:solidFill>
                <a:latin typeface="Calibri"/>
              </a:rPr>
              <a:t>Web Speech API requires HTTPS + Chrome/Edge. AR feature needs GLTF models for full 3D. Stripe test mode must be flipped for production.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480560"/>
            <a:ext cx="11430000" cy="160020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4480560"/>
            <a:ext cx="11430000" cy="40233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5079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🛡️  RISK MITIGATION STRATEGIES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956048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70C0"/>
                </a:solidFill>
                <a:latin typeface="Calibri"/>
              </a:rPr>
              <a:t>▸ Voice fallback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257800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455"/>
                </a:solidFill>
                <a:latin typeface="Calibri"/>
              </a:rPr>
              <a:t>Text search always available; voice is additive, not required.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4956048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70C0"/>
                </a:solidFill>
                <a:latin typeface="Calibri"/>
              </a:rPr>
              <a:t>▸ AR graceful degrade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5257800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455"/>
                </a:solidFill>
                <a:latin typeface="Calibri"/>
              </a:rPr>
              <a:t>Shows image gallery if no 3D model; full UX preserved.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4956048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70C0"/>
                </a:solidFill>
                <a:latin typeface="Calibri"/>
              </a:rPr>
              <a:t>▸ Stock safety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80760" y="5257800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455"/>
                </a:solidFill>
                <a:latin typeface="Calibri"/>
              </a:rPr>
              <a:t>Stock checked before add-to-cart; decremented only on confirmed Stripe payment.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0" y="4956048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70C0"/>
                </a:solidFill>
                <a:latin typeface="Calibri"/>
              </a:rPr>
              <a:t>▸ Auth resilience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0" y="5257800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455"/>
                </a:solidFill>
                <a:latin typeface="Calibri"/>
              </a:rPr>
              <a:t>Optional-auth middleware allows guests to browse; cart persisted in localStorage.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  <a:latin typeface="Calibri"/>
              </a:rPr>
              <a:t>IMPACT &amp; BENEFITS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22960"/>
            <a:ext cx="1097280" cy="5029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08760" y="822960"/>
            <a:ext cx="9144000" cy="50292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34455"/>
                </a:solidFill>
                <a:latin typeface="Calibri"/>
              </a:rPr>
              <a:t>Social, economic, and technological impact of ALL BLUE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0" y="637336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63733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ALL BLUE — AI Gift Shop  |  SIH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3733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Team ALL BLUE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097280"/>
            <a:ext cx="2606040" cy="118872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097280"/>
            <a:ext cx="2606040" cy="6400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234440"/>
            <a:ext cx="2606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70C0"/>
                </a:solidFill>
                <a:latin typeface="Calibri"/>
              </a:rPr>
              <a:t>70%+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70992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4455"/>
                </a:solidFill>
                <a:latin typeface="Calibri"/>
              </a:rPr>
              <a:t>Faster gift discovery
with AI recommendations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1097280"/>
            <a:ext cx="2606040" cy="118872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0" y="1097280"/>
            <a:ext cx="2606040" cy="64008"/>
          </a:xfrm>
          <a:prstGeom prst="rect">
            <a:avLst/>
          </a:prstGeom>
          <a:solidFill>
            <a:srgbClr val="004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1234440"/>
            <a:ext cx="2606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478B"/>
                </a:solidFill>
                <a:latin typeface="Calibri"/>
              </a:rPr>
              <a:t>3x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170992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4455"/>
                </a:solidFill>
                <a:latin typeface="Calibri"/>
              </a:rPr>
              <a:t>Higher conversion
vs generic catalogs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1097280"/>
            <a:ext cx="2606040" cy="118872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35040" y="1097280"/>
            <a:ext cx="2606040" cy="64008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1234440"/>
            <a:ext cx="2606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99CC"/>
                </a:solidFill>
                <a:latin typeface="Calibri"/>
              </a:rPr>
              <a:t>₹INR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170992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4455"/>
                </a:solidFill>
                <a:latin typeface="Calibri"/>
              </a:rPr>
              <a:t>Native Indian payment
(Stripe · GST · States)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69680" y="1097280"/>
            <a:ext cx="2606040" cy="118872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69680" y="1097280"/>
            <a:ext cx="2606040" cy="6400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0" y="1234440"/>
            <a:ext cx="2606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050"/>
                </a:solidFill>
                <a:latin typeface="Calibri"/>
              </a:rPr>
              <a:t>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170992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4455"/>
                </a:solidFill>
                <a:latin typeface="Calibri"/>
              </a:rPr>
              <a:t>TypeScript coverage
Zero runtime type errors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" y="2468880"/>
            <a:ext cx="3749039" cy="365760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2468880"/>
            <a:ext cx="3749039" cy="4114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" y="2496312"/>
            <a:ext cx="3547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👥  Social Impact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971800"/>
            <a:ext cx="347472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A4A"/>
                </a:solidFill>
                <a:latin typeface="Calibri"/>
              </a:rPr>
              <a:t>• Democratises premium gifting for all income levels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1A2A4A"/>
                </a:solidFill>
                <a:latin typeface="Calibri"/>
              </a:rPr>
              <a:t>• Enables discovery of small-business gift products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1A2A4A"/>
                </a:solidFill>
                <a:latin typeface="Calibri"/>
              </a:rPr>
              <a:t>• Reduces decision fatigue with AI-guided selection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1A2A4A"/>
                </a:solidFill>
                <a:latin typeface="Calibri"/>
              </a:rPr>
              <a:t>• Accessible UX — voice search for differently-abled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79" y="2468880"/>
            <a:ext cx="3749039" cy="365760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97679" y="2468880"/>
            <a:ext cx="3749039" cy="4114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07407" y="2496312"/>
            <a:ext cx="3547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💰  Economic Impact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39" y="2971800"/>
            <a:ext cx="347472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A4A"/>
                </a:solidFill>
                <a:latin typeface="Calibri"/>
              </a:rPr>
              <a:t>• Streamlines the ₹1.5 trillion Indian gifting market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1A2A4A"/>
                </a:solidFill>
                <a:latin typeface="Calibri"/>
              </a:rPr>
              <a:t>• Corporate gifting portal saves hours of manual curation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1A2A4A"/>
                </a:solidFill>
                <a:latin typeface="Calibri"/>
              </a:rPr>
              <a:t>• Stripe INR payments with GST calculation built-in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1A2A4A"/>
                </a:solidFill>
                <a:latin typeface="Calibri"/>
              </a:rPr>
              <a:t>• Admin dashboard provides revenue analytics at a glance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75318" y="2468880"/>
            <a:ext cx="3749039" cy="365760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75318" y="2468880"/>
            <a:ext cx="3749039" cy="41148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85046" y="2496312"/>
            <a:ext cx="3547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🧬  Technological Innovation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78" y="2971800"/>
            <a:ext cx="347472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A4A"/>
                </a:solidFill>
                <a:latin typeface="Calibri"/>
              </a:rPr>
              <a:t>• AI preference learning — improves with every interaction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1A2A4A"/>
                </a:solidFill>
                <a:latin typeface="Calibri"/>
              </a:rPr>
              <a:t>• Tag-affinity scoring — explainable and transparent AI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1A2A4A"/>
                </a:solidFill>
                <a:latin typeface="Calibri"/>
              </a:rPr>
              <a:t>• AR/360° preview reduces return rates for physical goods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1A2A4A"/>
                </a:solidFill>
                <a:latin typeface="Calibri"/>
              </a:rPr>
              <a:t>• Modular architecture — new AI features plug in easily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  <a:latin typeface="Calibri"/>
              </a:rPr>
              <a:t>SECURITY &amp; PRODUCTION READINESS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22960"/>
            <a:ext cx="1097280" cy="5029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08760" y="822960"/>
            <a:ext cx="9144000" cy="50292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34455"/>
                </a:solidFill>
                <a:latin typeface="Calibri"/>
              </a:rPr>
              <a:t>Enterprise-grade security and deployment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0" y="637336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63733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ALL BLUE — AI Gift Shop  |  SIH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3733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Team ALL BLUE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1097280"/>
            <a:ext cx="2743200" cy="118872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097280"/>
            <a:ext cx="2743200" cy="731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2344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70C0"/>
                </a:solidFill>
                <a:latin typeface="Segoe UI Emoji"/>
              </a:rPr>
              <a:t>🛡️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2618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Helmet.js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6916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4455"/>
                </a:solidFill>
                <a:latin typeface="Calibri"/>
              </a:rPr>
              <a:t>Security headers
on all responses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6120" y="1097280"/>
            <a:ext cx="2743200" cy="118872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46120" y="1097280"/>
            <a:ext cx="2743200" cy="731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12344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70C0"/>
                </a:solidFill>
                <a:latin typeface="Segoe UI Emoji"/>
              </a:rPr>
              <a:t>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12618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JWT / JWKS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16916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4455"/>
                </a:solidFill>
                <a:latin typeface="Calibri"/>
              </a:rPr>
              <a:t>Stack Auth token
verification via Jose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097280"/>
            <a:ext cx="2743200" cy="118872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1097280"/>
            <a:ext cx="2743200" cy="731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2344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70C0"/>
                </a:solidFill>
                <a:latin typeface="Segoe UI Emoji"/>
              </a:rPr>
              <a:t>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12618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Rate Limiting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16916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4455"/>
                </a:solidFill>
                <a:latin typeface="Calibri"/>
              </a:rPr>
              <a:t>200 req/min per IP
in-memory + cleanup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1097280"/>
            <a:ext cx="2743200" cy="118872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98280" y="1097280"/>
            <a:ext cx="2743200" cy="731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0" y="12344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70C0"/>
                </a:solidFill>
                <a:latin typeface="Segoe UI Emoji"/>
              </a:rPr>
              <a:t>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12618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Zod Validation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16916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4455"/>
                </a:solidFill>
                <a:latin typeface="Calibri"/>
              </a:rPr>
              <a:t>All request bodies
validated pre-process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" y="2468880"/>
            <a:ext cx="2743200" cy="118872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2468880"/>
            <a:ext cx="2743200" cy="731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26060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70C0"/>
                </a:solidFill>
                <a:latin typeface="Segoe UI Emoji"/>
              </a:rPr>
              <a:t>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26334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Admin RBAC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0632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4455"/>
                </a:solidFill>
                <a:latin typeface="Calibri"/>
              </a:rPr>
              <a:t>role==="admin"
route protection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46120" y="2468880"/>
            <a:ext cx="2743200" cy="118872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46120" y="2468880"/>
            <a:ext cx="2743200" cy="731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83280" y="26060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70C0"/>
                </a:solidFill>
                <a:latin typeface="Segoe UI Emoji"/>
              </a:rPr>
              <a:t>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0" y="26334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Stock Safety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30632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4455"/>
                </a:solidFill>
                <a:latin typeface="Calibri"/>
              </a:rPr>
              <a:t>Verified pre-cart
decrement on payment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72200" y="2468880"/>
            <a:ext cx="2743200" cy="118872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72200" y="2468880"/>
            <a:ext cx="2743200" cy="731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26060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70C0"/>
                </a:solidFill>
                <a:latin typeface="Segoe UI Emoji"/>
              </a:rPr>
              <a:t>💳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26334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Stripe Webhooks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30632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4455"/>
                </a:solidFill>
                <a:latin typeface="Calibri"/>
              </a:rPr>
              <a:t>Signature-verified
payment events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098280" y="2468880"/>
            <a:ext cx="2743200" cy="118872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098280" y="2468880"/>
            <a:ext cx="2743200" cy="731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35440" y="26060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70C0"/>
                </a:solidFill>
                <a:latin typeface="Segoe UI Emoji"/>
              </a:rPr>
              <a:t>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92640" y="26334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  <a:latin typeface="Calibri"/>
              </a:rPr>
              <a:t>CORS Policy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30632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4455"/>
                </a:solidFill>
                <a:latin typeface="Calibri"/>
              </a:rPr>
              <a:t>Origin whitelist
credentials: true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20040" y="3977639"/>
            <a:ext cx="11521440" cy="214884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20040" y="3977639"/>
            <a:ext cx="11521440" cy="402336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" y="40050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🚀  DEPLOYMENT ARCHITECTURE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4462272"/>
            <a:ext cx="2103120" cy="1554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453542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0C0"/>
                </a:solidFill>
                <a:latin typeface="Calibri"/>
              </a:rPr>
              <a:t>Frontend — Vercel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4901184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455"/>
                </a:solidFill>
                <a:latin typeface="Calibri"/>
              </a:rPr>
              <a:t>Next.js auto-detected
pnpm build → deploy
Edge CDN globally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724912" y="4462272"/>
            <a:ext cx="2103120" cy="1554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816352" y="453542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0C0"/>
                </a:solidFill>
                <a:latin typeface="Calibri"/>
              </a:rPr>
              <a:t>Backend — Railway / Render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816352" y="4901184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455"/>
                </a:solidFill>
                <a:latin typeface="Calibri"/>
              </a:rPr>
              <a:t>TypeScript → pnpm build → dist/
pnpm start runs compiled JS
Auto-restart on crash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992624" y="4462272"/>
            <a:ext cx="2103120" cy="1554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84064" y="453542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0C0"/>
                </a:solidFill>
                <a:latin typeface="Calibri"/>
              </a:rPr>
              <a:t>Database — Supabase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84064" y="4901184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455"/>
                </a:solidFill>
                <a:latin typeface="Calibri"/>
              </a:rPr>
              <a:t>Managed PostgreSQL
RLS + service role key
Connection pooling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260336" y="4462272"/>
            <a:ext cx="2103120" cy="1554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51776" y="453542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0C0"/>
                </a:solidFill>
                <a:latin typeface="Calibri"/>
              </a:rPr>
              <a:t>Payments — Stripe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51776" y="4901184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455"/>
                </a:solidFill>
                <a:latin typeface="Calibri"/>
              </a:rPr>
              <a:t>Checkout sessions (INR)
Webhook verification
Test → Live key swap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528048" y="4462272"/>
            <a:ext cx="2103120" cy="1554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19488" y="453542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0C0"/>
                </a:solidFill>
                <a:latin typeface="Calibri"/>
              </a:rPr>
              <a:t>Auth — Stack Auth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19488" y="4901184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4455"/>
                </a:solidFill>
                <a:latin typeface="Calibri"/>
              </a:rPr>
              <a:t>JWKS endpoint for JWT
Role-based access
Signup / signin flows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  <a:latin typeface="Calibri"/>
              </a:rPr>
              <a:t>RESEARCH &amp;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22960"/>
            <a:ext cx="1097280" cy="5029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08760" y="822960"/>
            <a:ext cx="9144000" cy="50292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34455"/>
                </a:solidFill>
                <a:latin typeface="Calibri"/>
              </a:rPr>
              <a:t>Technologies, documentation, and resources used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0" y="637336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63733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ALL BLUE — AI Gift Shop  |  SIH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3733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Team ALL BLUE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1097280"/>
            <a:ext cx="11521440" cy="507492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143000"/>
            <a:ext cx="5577840" cy="320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1704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Reference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117043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Purpose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17043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URL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508760"/>
            <a:ext cx="55778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156362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3E"/>
                </a:solidFill>
                <a:latin typeface="Calibri"/>
              </a:rPr>
              <a:t>Next.js Documentation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156362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4455"/>
                </a:solidFill>
                <a:latin typeface="Calibri"/>
              </a:rPr>
              <a:t>App Router, Server Components, API Routes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1563624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0070C0"/>
                </a:solidFill>
                <a:latin typeface="Calibri"/>
              </a:rPr>
              <a:t>nextjs.org/docs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1947672"/>
            <a:ext cx="5577840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00253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3E"/>
                </a:solidFill>
                <a:latin typeface="Calibri"/>
              </a:rPr>
              <a:t>Express.js Official Docs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200253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4455"/>
                </a:solidFill>
                <a:latin typeface="Calibri"/>
              </a:rPr>
              <a:t>Routing, Middleware, Error Handling patterns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002536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0070C0"/>
                </a:solidFill>
                <a:latin typeface="Calibri"/>
              </a:rPr>
              <a:t>expressjs.com/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386584"/>
            <a:ext cx="55778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4414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3E"/>
                </a:solidFill>
                <a:latin typeface="Calibri"/>
              </a:rPr>
              <a:t>Supabase Documentation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24414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4455"/>
                </a:solidFill>
                <a:latin typeface="Calibri"/>
              </a:rPr>
              <a:t>PostgreSQL, RLS, JSONB, GIN Index, RPCs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2441448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0070C0"/>
                </a:solidFill>
                <a:latin typeface="Calibri"/>
              </a:rPr>
              <a:t>supabase.com/docs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825496"/>
            <a:ext cx="5577840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28803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3E"/>
                </a:solidFill>
                <a:latin typeface="Calibri"/>
              </a:rPr>
              <a:t>Stripe API Reference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28803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4455"/>
                </a:solidFill>
                <a:latin typeface="Calibri"/>
              </a:rPr>
              <a:t>Checkout Sessions, Webhooks, INR payments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288036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0070C0"/>
                </a:solidFill>
                <a:latin typeface="Calibri"/>
              </a:rPr>
              <a:t>stripe.com/docs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264408"/>
            <a:ext cx="55778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31927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3E"/>
                </a:solidFill>
                <a:latin typeface="Calibri"/>
              </a:rPr>
              <a:t>Stack Auth Documentation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0" y="331927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4455"/>
                </a:solidFill>
                <a:latin typeface="Calibri"/>
              </a:rPr>
              <a:t>JWT, JWKS, RBAC, Session Management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80" y="3319272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0070C0"/>
                </a:solidFill>
                <a:latin typeface="Calibri"/>
              </a:rPr>
              <a:t>docs.stack-auth.com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703320"/>
            <a:ext cx="5577840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75818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3E"/>
                </a:solidFill>
                <a:latin typeface="Calibri"/>
              </a:rPr>
              <a:t>Web Speech API — MDN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60320" y="375818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4455"/>
                </a:solidFill>
                <a:latin typeface="Calibri"/>
              </a:rPr>
              <a:t>SpeechRecognition, en-IN, real-time transcript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26280" y="3758184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0070C0"/>
                </a:solidFill>
                <a:latin typeface="Calibri"/>
              </a:rPr>
              <a:t>developer.mozilla.org/en-US/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142232"/>
            <a:ext cx="55778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419709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3E"/>
                </a:solidFill>
                <a:latin typeface="Calibri"/>
              </a:rPr>
              <a:t>Tailwind CSS v4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60320" y="419709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4455"/>
                </a:solidFill>
                <a:latin typeface="Calibri"/>
              </a:rPr>
              <a:t>Utility-first CSS, CSS Variables, Dark Mode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26280" y="4197096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0070C0"/>
                </a:solidFill>
                <a:latin typeface="Calibri"/>
              </a:rPr>
              <a:t>tailwindcss.com/docs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581144"/>
            <a:ext cx="5577840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463600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3E"/>
                </a:solidFill>
                <a:latin typeface="Calibri"/>
              </a:rPr>
              <a:t>Framer Motion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60320" y="463600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4455"/>
                </a:solidFill>
                <a:latin typeface="Calibri"/>
              </a:rPr>
              <a:t>Page transitions, Magnetic effects, Animations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26280" y="4636008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0070C0"/>
                </a:solidFill>
                <a:latin typeface="Calibri"/>
              </a:rPr>
              <a:t>www.framer.com/motion/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1143000"/>
            <a:ext cx="5577840" cy="320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11704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Reference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66760" y="117043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Purpose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78440" y="117043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URL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63640" y="1508760"/>
            <a:ext cx="55778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55080" y="156362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3E"/>
                </a:solidFill>
                <a:latin typeface="Calibri"/>
              </a:rPr>
              <a:t>Radix UI Primitives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156362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4455"/>
                </a:solidFill>
                <a:latin typeface="Calibri"/>
              </a:rPr>
              <a:t>Accessible headless UI components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32720" y="1563624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0070C0"/>
                </a:solidFill>
                <a:latin typeface="Calibri"/>
              </a:rPr>
              <a:t>www.radix-ui.com/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63640" y="1947672"/>
            <a:ext cx="5577840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55080" y="200253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3E"/>
                </a:solidFill>
                <a:latin typeface="Calibri"/>
              </a:rPr>
              <a:t>Zod Schema Validation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66760" y="200253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4455"/>
                </a:solidFill>
                <a:latin typeface="Calibri"/>
              </a:rPr>
              <a:t>TypeScript-first schema validation library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32720" y="2002536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0070C0"/>
                </a:solidFill>
                <a:latin typeface="Calibri"/>
              </a:rPr>
              <a:t>zod.dev/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63640" y="2386584"/>
            <a:ext cx="55778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55080" y="24414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3E"/>
                </a:solidFill>
                <a:latin typeface="Calibri"/>
              </a:rPr>
              <a:t>Jose — JWT / JWKS library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66760" y="24414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4455"/>
                </a:solidFill>
                <a:latin typeface="Calibri"/>
              </a:rPr>
              <a:t>JWT verification using JWKS endpoint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332720" y="2441448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0070C0"/>
                </a:solidFill>
                <a:latin typeface="Calibri"/>
              </a:rPr>
              <a:t>github.com/panva/jose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63640" y="2825496"/>
            <a:ext cx="5577840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55080" y="28803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3E"/>
                </a:solidFill>
                <a:latin typeface="Calibri"/>
              </a:rPr>
              <a:t>Helmet.js Security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66760" y="28803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4455"/>
                </a:solidFill>
                <a:latin typeface="Calibri"/>
              </a:rPr>
              <a:t>HTTP security headers for Express.js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332720" y="288036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0070C0"/>
                </a:solidFill>
                <a:latin typeface="Calibri"/>
              </a:rPr>
              <a:t>helmetjs.github.io/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63640" y="3264408"/>
            <a:ext cx="55778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55080" y="331927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3E"/>
                </a:solidFill>
                <a:latin typeface="Calibri"/>
              </a:rPr>
              <a:t>Morgan HTTP Logger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66760" y="331927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4455"/>
                </a:solidFill>
                <a:latin typeface="Calibri"/>
              </a:rPr>
              <a:t>Request logging middleware for Node.js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332720" y="3319272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0070C0"/>
                </a:solidFill>
                <a:latin typeface="Calibri"/>
              </a:rPr>
              <a:t>github.com/expressjs/morgan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63640" y="3703320"/>
            <a:ext cx="5577840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55080" y="375818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3E"/>
                </a:solidFill>
                <a:latin typeface="Calibri"/>
              </a:rPr>
              <a:t>Lucide React Icons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66760" y="375818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4455"/>
                </a:solidFill>
                <a:latin typeface="Calibri"/>
              </a:rPr>
              <a:t>Open-source icon set for React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332720" y="3758184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0070C0"/>
                </a:solidFill>
                <a:latin typeface="Calibri"/>
              </a:rPr>
              <a:t>lucide.dev/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63640" y="4142232"/>
            <a:ext cx="55778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55080" y="419709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3E"/>
                </a:solidFill>
                <a:latin typeface="Calibri"/>
              </a:rPr>
              <a:t>Vercel Analytics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66760" y="419709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4455"/>
                </a:solidFill>
                <a:latin typeface="Calibri"/>
              </a:rPr>
              <a:t>Real-time web analytics for Next.js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332720" y="4197096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0070C0"/>
                </a:solidFill>
                <a:latin typeface="Calibri"/>
              </a:rPr>
              <a:t>vercel.com/analytics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63640" y="4581144"/>
            <a:ext cx="5577840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355080" y="463600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3E"/>
                </a:solidFill>
                <a:latin typeface="Calibri"/>
              </a:rPr>
              <a:t>GitHub Repository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366760" y="463600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4455"/>
                </a:solidFill>
                <a:latin typeface="Calibri"/>
              </a:rPr>
              <a:t>Full source code — prateekraiger/all_blue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332720" y="4636008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0070C0"/>
                </a:solidFill>
                <a:latin typeface="Calibri"/>
              </a:rPr>
              <a:t>github.com/prateekraiger/all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914400" y="411480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0" y="-914400"/>
            <a:ext cx="4572000" cy="4572000"/>
          </a:xfrm>
          <a:prstGeom prst="roundRect">
            <a:avLst>
              <a:gd name="adj" fmla="val 50000"/>
            </a:avLst>
          </a:prstGeom>
          <a:solidFill>
            <a:srgbClr val="00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188720"/>
            <a:ext cx="9445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2606040"/>
            <a:ext cx="3959352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788920"/>
            <a:ext cx="9445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DD7EE"/>
                </a:solidFill>
                <a:latin typeface="Calibri"/>
              </a:rPr>
              <a:t>ALL BLUE  —  Where AI meets the art of gifting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3474720"/>
            <a:ext cx="8138160" cy="1920240"/>
          </a:xfrm>
          <a:prstGeom prst="roundRect">
            <a:avLst>
              <a:gd name="adj" fmla="val 4000"/>
            </a:avLst>
          </a:prstGeom>
          <a:solidFill>
            <a:srgbClr val="0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36118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A500"/>
                </a:solidFill>
                <a:latin typeface="Calibri"/>
              </a:rPr>
              <a:t>Team Name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61188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Team ALL BLUE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03250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A500"/>
                </a:solidFill>
                <a:latin typeface="Calibri"/>
              </a:rPr>
              <a:t>Developer 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4032504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Prateek Raiger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445312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A500"/>
                </a:solidFill>
                <a:latin typeface="Calibri"/>
              </a:rPr>
              <a:t>GitHub 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445312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github.com/prateekraiger/all_blue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487375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A500"/>
                </a:solidFill>
                <a:latin typeface="Calibri"/>
              </a:rPr>
              <a:t>Hackathon 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4873752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Smart India Hackathon 2025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5623560"/>
            <a:ext cx="1417320" cy="384048"/>
          </a:xfrm>
          <a:prstGeom prst="roundRect">
            <a:avLst>
              <a:gd name="adj" fmla="val 40000"/>
            </a:avLst>
          </a:prstGeom>
          <a:solidFill>
            <a:srgbClr val="00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562356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Next.js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53512" y="5623560"/>
            <a:ext cx="1417320" cy="384048"/>
          </a:xfrm>
          <a:prstGeom prst="roundRect">
            <a:avLst>
              <a:gd name="adj" fmla="val 40000"/>
            </a:avLst>
          </a:prstGeom>
          <a:solidFill>
            <a:srgbClr val="00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53512" y="562356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Express.js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35424" y="5623560"/>
            <a:ext cx="1417320" cy="384048"/>
          </a:xfrm>
          <a:prstGeom prst="roundRect">
            <a:avLst>
              <a:gd name="adj" fmla="val 40000"/>
            </a:avLst>
          </a:prstGeom>
          <a:solidFill>
            <a:srgbClr val="00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5424" y="562356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TypeScript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17336" y="5623560"/>
            <a:ext cx="1417320" cy="384048"/>
          </a:xfrm>
          <a:prstGeom prst="roundRect">
            <a:avLst>
              <a:gd name="adj" fmla="val 40000"/>
            </a:avLst>
          </a:prstGeom>
          <a:solidFill>
            <a:srgbClr val="00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17336" y="562356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Supabase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99248" y="5623560"/>
            <a:ext cx="1417320" cy="384048"/>
          </a:xfrm>
          <a:prstGeom prst="roundRect">
            <a:avLst>
              <a:gd name="adj" fmla="val 40000"/>
            </a:avLst>
          </a:prstGeom>
          <a:solidFill>
            <a:srgbClr val="00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99248" y="562356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Stripe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81160" y="5623560"/>
            <a:ext cx="1417320" cy="384048"/>
          </a:xfrm>
          <a:prstGeom prst="roundRect">
            <a:avLst>
              <a:gd name="adj" fmla="val 40000"/>
            </a:avLst>
          </a:prstGeom>
          <a:solidFill>
            <a:srgbClr val="00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81160" y="562356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Stack Auth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0" y="6144768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AACC"/>
                </a:solidFill>
                <a:latin typeface="Calibri"/>
              </a:rPr>
              <a:t>Built with ❤ for SIH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